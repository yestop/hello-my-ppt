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>
    <a:defPPr>
      <a:defRPr lang="zh-CN">
        <a:latin typeface="Microsoft YaHei"/>
        <a:ea typeface="Microsoft YaHei"/>
        <a:cs typeface="Microsoft YaHei"/>
      </a:defRPr>
    </a:defPPr>
  </p:defaultTextStyle>
  <p:title>hello-my-ppt 使用介绍</p:tit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</p:bodyStyle>
    <p:otherStyle>
      <a:lvl1pPr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cover-panel"/>
          <p:cNvSpPr/>
          <p:nvPr/>
        </p:nvSpPr>
        <p:spPr>
          <a:xfrm>
            <a:off x="7747000" y="0"/>
            <a:ext cx="4445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cover-accent"/>
          <p:cNvSpPr/>
          <p:nvPr/>
        </p:nvSpPr>
        <p:spPr>
          <a:xfrm>
            <a:off x="609600" y="609600"/>
            <a:ext cx="1397000" cy="6350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cover-eyebrow"/>
          <p:cNvSpPr txBox="1"/>
          <p:nvPr/>
        </p:nvSpPr>
        <p:spPr>
          <a:xfrm>
            <a:off x="609600" y="939800"/>
            <a:ext cx="63500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1100" spc="15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LOCAL PPTD WORKFLOW · EDITABLE OUTPUT</a:t>
            </a:r>
          </a:p>
        </p:txBody>
      </p:sp>
      <p:sp>
        <p:nvSpPr>
          <p:cNvPr id="4" name="cover-title"/>
          <p:cNvSpPr txBox="1"/>
          <p:nvPr/>
        </p:nvSpPr>
        <p:spPr>
          <a:xfrm>
            <a:off x="609600" y="1625600"/>
            <a:ext cx="6604000" cy="1905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zh-CN" b="1" sz="48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hello-my-ppt</a:t>
            </a:r>
          </a:p>
          <a:p>
            <a:pPr algn="l">
              <a:lnSpc>
                <a:spcPct val="108000"/>
              </a:lnSpc>
              <a:spcBef>
                <a:spcPts val="1400"/>
              </a:spcBef>
            </a:pPr>
            <a:r>
              <a:rPr lang="zh-CN" b="1" sz="250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从 PPTD 到可编辑 PPTX</a:t>
            </a:r>
          </a:p>
        </p:txBody>
      </p:sp>
      <p:sp>
        <p:nvSpPr>
          <p:cNvPr id="5" name="cover-copy"/>
          <p:cNvSpPr txBox="1"/>
          <p:nvPr/>
        </p:nvSpPr>
        <p:spPr>
          <a:xfrm>
            <a:off x="609600" y="3937000"/>
            <a:ext cx="6350000" cy="889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4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本地浏览器编辑、PPTX 导出与页面渲染，适合把提示词、内容和模板整理成可交付的演示文稿。</a:t>
            </a:r>
          </a:p>
        </p:txBody>
      </p:sp>
      <p:sp>
        <p:nvSpPr>
          <p:cNvPr id="6" name="cover-chip1"/>
          <p:cNvSpPr/>
          <p:nvPr/>
        </p:nvSpPr>
        <p:spPr>
          <a:xfrm>
            <a:off x="609600" y="5359400"/>
            <a:ext cx="1841500" cy="4318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cover-chip1-text"/>
          <p:cNvSpPr txBox="1"/>
          <p:nvPr/>
        </p:nvSpPr>
        <p:spPr>
          <a:xfrm>
            <a:off x="609600" y="5435600"/>
            <a:ext cx="1841500" cy="2540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/>
            <a:r>
              <a:rPr lang="zh-CN" b="1" sz="110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浏览器编辑</a:t>
            </a:r>
          </a:p>
        </p:txBody>
      </p:sp>
      <p:sp>
        <p:nvSpPr>
          <p:cNvPr id="8" name="cover-chip2"/>
          <p:cNvSpPr/>
          <p:nvPr/>
        </p:nvSpPr>
        <p:spPr>
          <a:xfrm>
            <a:off x="2590800" y="5359400"/>
            <a:ext cx="1841500" cy="431800"/>
          </a:xfrm>
          <a:prstGeom prst="rect">
            <a:avLst/>
          </a:prstGeom>
          <a:solidFill>
            <a:srgbClr val="FFF0E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cover-chip2-text"/>
          <p:cNvSpPr txBox="1"/>
          <p:nvPr/>
        </p:nvSpPr>
        <p:spPr>
          <a:xfrm>
            <a:off x="2590800" y="5435600"/>
            <a:ext cx="1841500" cy="2540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/>
            <a:r>
              <a:rPr lang="zh-CN" b="1" sz="1100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rPr>
              <a:t>可编辑 PPTX</a:t>
            </a:r>
          </a:p>
        </p:txBody>
      </p:sp>
      <p:sp>
        <p:nvSpPr>
          <p:cNvPr id="10" name="cover-chip3"/>
          <p:cNvSpPr/>
          <p:nvPr/>
        </p:nvSpPr>
        <p:spPr>
          <a:xfrm>
            <a:off x="4572000" y="5359400"/>
            <a:ext cx="1841500" cy="431800"/>
          </a:xfrm>
          <a:prstGeom prst="rect">
            <a:avLst/>
          </a:prstGeom>
          <a:solidFill>
            <a:srgbClr val="E8F6F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cover-chip3-text"/>
          <p:cNvSpPr txBox="1"/>
          <p:nvPr/>
        </p:nvSpPr>
        <p:spPr>
          <a:xfrm>
            <a:off x="4572000" y="5435600"/>
            <a:ext cx="1841500" cy="2540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/>
            <a:r>
              <a:rPr lang="zh-CN" b="1" sz="1100">
                <a:solidFill>
                  <a:srgbClr val="20A486"/>
                </a:solidFill>
                <a:latin typeface="Microsoft YaHei"/>
                <a:ea typeface="Microsoft YaHei"/>
                <a:cs typeface="Microsoft YaHei"/>
              </a:rPr>
              <a:t>PNG 预览</a:t>
            </a:r>
          </a:p>
        </p:txBody>
      </p:sp>
      <p:sp>
        <p:nvSpPr>
          <p:cNvPr id="12" name="cover-mark"/>
          <p:cNvSpPr/>
          <p:nvPr/>
        </p:nvSpPr>
        <p:spPr>
          <a:xfrm>
            <a:off x="8940800" y="1143000"/>
            <a:ext cx="2032000" cy="203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cover-mark-inner"/>
          <p:cNvSpPr/>
          <p:nvPr/>
        </p:nvSpPr>
        <p:spPr>
          <a:xfrm>
            <a:off x="9448800" y="1651000"/>
            <a:ext cx="1016000" cy="10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cover-mark-text"/>
          <p:cNvSpPr txBox="1"/>
          <p:nvPr/>
        </p:nvSpPr>
        <p:spPr>
          <a:xfrm>
            <a:off x="8255000" y="3581400"/>
            <a:ext cx="3429000" cy="8890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/>
            <a:r>
              <a:rPr lang="zh-CN" b="1" sz="23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PPTD / PPTX / PNG</a:t>
            </a:r>
          </a:p>
        </p:txBody>
      </p:sp>
      <p:sp>
        <p:nvSpPr>
          <p:cNvPr id="15" name="cover-side-copy"/>
          <p:cNvSpPr txBox="1"/>
          <p:nvPr/>
        </p:nvSpPr>
        <p:spPr>
          <a:xfrm>
            <a:off x="8255000" y="4953000"/>
            <a:ext cx="3302000" cy="1016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ctr">
              <a:lnSpc>
                <a:spcPct val="155000"/>
              </a:lnSpc>
            </a:pPr>
            <a:r>
              <a:rPr lang="zh-CN" sz="1300">
                <a:solidFill>
                  <a:srgbClr val="CFE0F1"/>
                </a:solidFill>
                <a:latin typeface="Microsoft YaHei"/>
                <a:ea typeface="Microsoft YaHei"/>
                <a:cs typeface="Microsoft YaHei"/>
              </a:rPr>
              <a:t>本地项目可保存、可复用、可继续编辑。</a:t>
            </a:r>
          </a:p>
        </p:txBody>
      </p:sp>
      <p:sp>
        <p:nvSpPr>
          <p:cNvPr id="16" name="cover-footer"/>
          <p:cNvSpPr txBox="1"/>
          <p:nvPr/>
        </p:nvSpPr>
        <p:spPr>
          <a:xfrm>
            <a:off x="609600" y="6426200"/>
            <a:ext cx="63500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sz="10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hello-my-ppt · 使用介绍示例 · v1.0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eyebrow"/>
          <p:cNvSpPr txBox="1"/>
          <p:nvPr/>
        </p:nvSpPr>
        <p:spPr>
          <a:xfrm>
            <a:off x="609600" y="457200"/>
            <a:ext cx="6350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1100" spc="15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01 · WORKFLOW</a:t>
            </a:r>
          </a:p>
        </p:txBody>
      </p:sp>
      <p:sp>
        <p:nvSpPr>
          <p:cNvPr id="2" name="title"/>
          <p:cNvSpPr txBox="1"/>
          <p:nvPr/>
        </p:nvSpPr>
        <p:spPr>
          <a:xfrm>
            <a:off x="609600" y="863600"/>
            <a:ext cx="9652000" cy="558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b="1" sz="30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一条本地链路，覆盖设计到交付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473200"/>
            <a:ext cx="96520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4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输入内容、提示词或 PPTD 模板，最后得到可编辑 PPTX 和页面图片。</a:t>
            </a:r>
          </a:p>
        </p:txBody>
      </p:sp>
      <p:sp>
        <p:nvSpPr>
          <p:cNvPr id="4" name="rule"/>
          <p:cNvSpPr/>
          <p:nvPr/>
        </p:nvSpPr>
        <p:spPr>
          <a:xfrm>
            <a:off x="609600" y="1905000"/>
            <a:ext cx="10972800" cy="12700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" name="card1"/>
          <p:cNvSpPr/>
          <p:nvPr/>
        </p:nvSpPr>
        <p:spPr>
          <a:xfrm>
            <a:off x="609600" y="2463800"/>
            <a:ext cx="2286000" cy="2717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9E4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" name="card2"/>
          <p:cNvSpPr/>
          <p:nvPr/>
        </p:nvSpPr>
        <p:spPr>
          <a:xfrm>
            <a:off x="3454400" y="2463800"/>
            <a:ext cx="2286000" cy="2717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9E4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card3"/>
          <p:cNvSpPr/>
          <p:nvPr/>
        </p:nvSpPr>
        <p:spPr>
          <a:xfrm>
            <a:off x="6299200" y="2463800"/>
            <a:ext cx="2286000" cy="2717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9E4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card4"/>
          <p:cNvSpPr/>
          <p:nvPr/>
        </p:nvSpPr>
        <p:spPr>
          <a:xfrm>
            <a:off x="9144000" y="2463800"/>
            <a:ext cx="2438400" cy="271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9" name="arrow1"/>
          <p:cNvCxnSpPr/>
          <p:nvPr/>
        </p:nvCxnSpPr>
        <p:spPr>
          <a:xfrm rot="0">
            <a:off x="2946400" y="3784600"/>
            <a:ext cx="355600" cy="0"/>
          </a:xfrm>
          <a:prstGeom prst="straightConnector1"/>
          <a:ln w="25400" cap="flat" cmpd="sng" algn="ctr">
            <a:solidFill>
              <a:schemeClr val="accent2"/>
            </a:solidFill>
            <a:tailEnd type="triangle" w="med" len="med"/>
          </a:ln>
        </p:spPr>
      </p:cxnSp>
      <p:cxnSp>
        <p:nvCxnSpPr>
          <p:cNvPr id="10" name="arrow2"/>
          <p:cNvCxnSpPr/>
          <p:nvPr/>
        </p:nvCxnSpPr>
        <p:spPr>
          <a:xfrm rot="0">
            <a:off x="5791200" y="3784600"/>
            <a:ext cx="355600" cy="0"/>
          </a:xfrm>
          <a:prstGeom prst="straightConnector1"/>
          <a:ln w="25400" cap="flat" cmpd="sng" algn="ctr">
            <a:solidFill>
              <a:schemeClr val="accent2"/>
            </a:solidFill>
            <a:tailEnd type="triangle" w="med" len="med"/>
          </a:ln>
        </p:spPr>
      </p:cxnSp>
      <p:cxnSp>
        <p:nvCxnSpPr>
          <p:cNvPr id="11" name="arrow3"/>
          <p:cNvCxnSpPr/>
          <p:nvPr/>
        </p:nvCxnSpPr>
        <p:spPr>
          <a:xfrm rot="0">
            <a:off x="8636000" y="3784600"/>
            <a:ext cx="355600" cy="0"/>
          </a:xfrm>
          <a:prstGeom prst="straightConnector1"/>
          <a:ln w="25400" cap="flat" cmpd="sng" algn="ctr">
            <a:solidFill>
              <a:schemeClr val="accent2"/>
            </a:solidFill>
            <a:tailEnd type="triangle" w="med" len="med"/>
          </a:ln>
        </p:spPr>
      </p:cxnSp>
      <p:sp>
        <p:nvSpPr>
          <p:cNvPr id="12" name="n1"/>
          <p:cNvSpPr txBox="1"/>
          <p:nvPr/>
        </p:nvSpPr>
        <p:spPr>
          <a:xfrm>
            <a:off x="889000" y="2794000"/>
            <a:ext cx="635000" cy="533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280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n2"/>
          <p:cNvSpPr txBox="1"/>
          <p:nvPr/>
        </p:nvSpPr>
        <p:spPr>
          <a:xfrm>
            <a:off x="3733800" y="2794000"/>
            <a:ext cx="635000" cy="533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280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n3"/>
          <p:cNvSpPr txBox="1"/>
          <p:nvPr/>
        </p:nvSpPr>
        <p:spPr>
          <a:xfrm>
            <a:off x="6578600" y="2794000"/>
            <a:ext cx="635000" cy="533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280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n4"/>
          <p:cNvSpPr txBox="1"/>
          <p:nvPr/>
        </p:nvSpPr>
        <p:spPr>
          <a:xfrm>
            <a:off x="9423400" y="2794000"/>
            <a:ext cx="635000" cy="533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2800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t1"/>
          <p:cNvSpPr txBox="1"/>
          <p:nvPr/>
        </p:nvSpPr>
        <p:spPr>
          <a:xfrm>
            <a:off x="889000" y="3556000"/>
            <a:ext cx="1727200" cy="355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8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输入需求</a:t>
            </a:r>
          </a:p>
        </p:txBody>
      </p:sp>
      <p:sp>
        <p:nvSpPr>
          <p:cNvPr id="17" name="d1"/>
          <p:cNvSpPr txBox="1"/>
          <p:nvPr/>
        </p:nvSpPr>
        <p:spPr>
          <a:xfrm>
            <a:off x="889000" y="4089400"/>
            <a:ext cx="1727200" cy="736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sz="10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提示词、文档、内容大纲或已有 PPTD 项目。</a:t>
            </a:r>
          </a:p>
        </p:txBody>
      </p:sp>
      <p:sp>
        <p:nvSpPr>
          <p:cNvPr id="18" name="t2"/>
          <p:cNvSpPr txBox="1"/>
          <p:nvPr/>
        </p:nvSpPr>
        <p:spPr>
          <a:xfrm>
            <a:off x="3733800" y="3556000"/>
            <a:ext cx="1727200" cy="355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8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生成 PPTD</a:t>
            </a:r>
          </a:p>
        </p:txBody>
      </p:sp>
      <p:sp>
        <p:nvSpPr>
          <p:cNvPr id="19" name="d2"/>
          <p:cNvSpPr txBox="1"/>
          <p:nvPr/>
        </p:nvSpPr>
        <p:spPr>
          <a:xfrm>
            <a:off x="3733800" y="4089400"/>
            <a:ext cx="1727200" cy="736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sz="10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页面、主题、元素和媒体保持项目内可追踪。</a:t>
            </a:r>
          </a:p>
        </p:txBody>
      </p:sp>
      <p:sp>
        <p:nvSpPr>
          <p:cNvPr id="20" name="t3"/>
          <p:cNvSpPr txBox="1"/>
          <p:nvPr/>
        </p:nvSpPr>
        <p:spPr>
          <a:xfrm>
            <a:off x="6578600" y="3556000"/>
            <a:ext cx="1727200" cy="355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8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浏览器编辑</a:t>
            </a:r>
          </a:p>
        </p:txBody>
      </p:sp>
      <p:sp>
        <p:nvSpPr>
          <p:cNvPr id="21" name="d3"/>
          <p:cNvSpPr txBox="1"/>
          <p:nvPr/>
        </p:nvSpPr>
        <p:spPr>
          <a:xfrm>
            <a:off x="6578600" y="4089400"/>
            <a:ext cx="1727200" cy="736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sz="10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本地预览、修改、保存和实时刷新。</a:t>
            </a:r>
          </a:p>
        </p:txBody>
      </p:sp>
      <p:sp>
        <p:nvSpPr>
          <p:cNvPr id="22" name="t4"/>
          <p:cNvSpPr txBox="1"/>
          <p:nvPr/>
        </p:nvSpPr>
        <p:spPr>
          <a:xfrm>
            <a:off x="9423400" y="3556000"/>
            <a:ext cx="1841500" cy="355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导出交付</a:t>
            </a:r>
          </a:p>
        </p:txBody>
      </p:sp>
      <p:sp>
        <p:nvSpPr>
          <p:cNvPr id="23" name="d4"/>
          <p:cNvSpPr txBox="1"/>
          <p:nvPr/>
        </p:nvSpPr>
        <p:spPr>
          <a:xfrm>
            <a:off x="9423400" y="4089400"/>
            <a:ext cx="1841500" cy="736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200">
                <a:solidFill>
                  <a:srgbClr val="D7E6F4"/>
                </a:solidFill>
                <a:latin typeface="Microsoft YaHei"/>
                <a:ea typeface="Microsoft YaHei"/>
                <a:cs typeface="Microsoft YaHei"/>
              </a:rPr>
              <a:t>PPTX、PNG 和完整项目 ZIP。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09600" y="6045200"/>
            <a:ext cx="10972800" cy="381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sz="10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关键原则：先保留 PPTD 项目，再导出 PPTX；页面内容和素材始终可回溯。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eyebrow"/>
          <p:cNvSpPr txBox="1"/>
          <p:nvPr/>
        </p:nvSpPr>
        <p:spPr>
          <a:xfrm>
            <a:off x="609600" y="457200"/>
            <a:ext cx="6350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1100" spc="15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02 · DESIGN INPUTS</a:t>
            </a:r>
          </a:p>
        </p:txBody>
      </p:sp>
      <p:sp>
        <p:nvSpPr>
          <p:cNvPr id="2" name="title"/>
          <p:cNvSpPr txBox="1"/>
          <p:nvPr/>
        </p:nvSpPr>
        <p:spPr>
          <a:xfrm>
            <a:off x="609600" y="863600"/>
            <a:ext cx="10160000" cy="558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b="1" sz="30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三种设计入口，适配不同起点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473200"/>
            <a:ext cx="101600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4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可以从一句话开始，也可以从现有项目或视觉参考开始。</a:t>
            </a:r>
          </a:p>
        </p:txBody>
      </p:sp>
      <p:sp>
        <p:nvSpPr>
          <p:cNvPr id="4" name="c1"/>
          <p:cNvSpPr/>
          <p:nvPr/>
        </p:nvSpPr>
        <p:spPr>
          <a:xfrm>
            <a:off x="609600" y="2209800"/>
            <a:ext cx="3352800" cy="3124200"/>
          </a:xfrm>
          <a:prstGeom prst="rect">
            <a:avLst/>
          </a:prstGeom>
          <a:solidFill>
            <a:srgbClr val="E8F2FF"/>
          </a:solidFill>
          <a:ln w="12700" cap="flat" cmpd="sng" algn="ctr">
            <a:solidFill>
              <a:srgbClr val="BFD8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" name="c2"/>
          <p:cNvSpPr/>
          <p:nvPr/>
        </p:nvSpPr>
        <p:spPr>
          <a:xfrm>
            <a:off x="4419600" y="2209800"/>
            <a:ext cx="3352800" cy="3124200"/>
          </a:xfrm>
          <a:prstGeom prst="rect">
            <a:avLst/>
          </a:prstGeom>
          <a:solidFill>
            <a:srgbClr val="E8F6F2"/>
          </a:solidFill>
          <a:ln w="12700" cap="flat" cmpd="sng" algn="ctr">
            <a:solidFill>
              <a:srgbClr val="BCE3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" name="c3"/>
          <p:cNvSpPr/>
          <p:nvPr/>
        </p:nvSpPr>
        <p:spPr>
          <a:xfrm>
            <a:off x="8229600" y="2209800"/>
            <a:ext cx="3352800" cy="3124200"/>
          </a:xfrm>
          <a:prstGeom prst="rect">
            <a:avLst/>
          </a:prstGeom>
          <a:solidFill>
            <a:srgbClr val="FFF0EA"/>
          </a:solidFill>
          <a:ln w="12700" cap="flat" cmpd="sng" algn="ctr">
            <a:solidFill>
              <a:srgbClr val="F7C7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c1-tag"/>
          <p:cNvSpPr txBox="1"/>
          <p:nvPr/>
        </p:nvSpPr>
        <p:spPr>
          <a:xfrm>
            <a:off x="914400" y="2565400"/>
            <a:ext cx="1143000" cy="279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1100" spc="15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8" name="c1-title"/>
          <p:cNvSpPr txBox="1"/>
          <p:nvPr/>
        </p:nvSpPr>
        <p:spPr>
          <a:xfrm>
            <a:off x="914400" y="3022600"/>
            <a:ext cx="2667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22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按提示词设计</a:t>
            </a:r>
          </a:p>
        </p:txBody>
      </p:sp>
      <p:sp>
        <p:nvSpPr>
          <p:cNvPr id="9" name="c1-body"/>
          <p:cNvSpPr txBox="1"/>
          <p:nvPr/>
        </p:nvSpPr>
        <p:spPr>
          <a:xfrm>
            <a:off x="914400" y="3708400"/>
            <a:ext cx="2540000" cy="1143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3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说明主题、受众、页数、叙事、色板、字体和交付格式，由 Codex 生成 PPTD。</a:t>
            </a:r>
          </a:p>
        </p:txBody>
      </p:sp>
      <p:sp>
        <p:nvSpPr>
          <p:cNvPr id="10" name="c2-tag"/>
          <p:cNvSpPr txBox="1"/>
          <p:nvPr/>
        </p:nvSpPr>
        <p:spPr>
          <a:xfrm>
            <a:off x="4724400" y="2565400"/>
            <a:ext cx="1524000" cy="279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1100" spc="150">
                <a:solidFill>
                  <a:srgbClr val="20A486"/>
                </a:solidFill>
                <a:latin typeface="Microsoft YaHei"/>
                <a:ea typeface="Microsoft YaHei"/>
                <a:cs typeface="Microsoft YaHei"/>
              </a:rPr>
              <a:t>PPTD TEMPLATE</a:t>
            </a:r>
          </a:p>
        </p:txBody>
      </p:sp>
      <p:sp>
        <p:nvSpPr>
          <p:cNvPr id="11" name="c2-title"/>
          <p:cNvSpPr txBox="1"/>
          <p:nvPr/>
        </p:nvSpPr>
        <p:spPr>
          <a:xfrm>
            <a:off x="4724400" y="3022600"/>
            <a:ext cx="2667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22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按内置示例设计</a:t>
            </a:r>
          </a:p>
        </p:txBody>
      </p:sp>
      <p:sp>
        <p:nvSpPr>
          <p:cNvPr id="12" name="c2-body"/>
          <p:cNvSpPr txBox="1"/>
          <p:nvPr/>
        </p:nvSpPr>
        <p:spPr>
          <a:xfrm>
            <a:off x="4724400" y="3708400"/>
            <a:ext cx="2540000" cy="1143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3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复制 examples/ 中的项目作为起点，替换内容、主题、页面和素材。</a:t>
            </a:r>
          </a:p>
        </p:txBody>
      </p:sp>
      <p:sp>
        <p:nvSpPr>
          <p:cNvPr id="13" name="c3-tag"/>
          <p:cNvSpPr txBox="1"/>
          <p:nvPr/>
        </p:nvSpPr>
        <p:spPr>
          <a:xfrm>
            <a:off x="8534400" y="2565400"/>
            <a:ext cx="1905000" cy="279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1100" spc="150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rPr>
              <a:t>REFERENCE</a:t>
            </a:r>
          </a:p>
        </p:txBody>
      </p:sp>
      <p:sp>
        <p:nvSpPr>
          <p:cNvPr id="14" name="c3-title"/>
          <p:cNvSpPr txBox="1"/>
          <p:nvPr/>
        </p:nvSpPr>
        <p:spPr>
          <a:xfrm>
            <a:off x="8534400" y="3022600"/>
            <a:ext cx="2667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22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按外部模板参考</a:t>
            </a:r>
          </a:p>
        </p:txBody>
      </p:sp>
      <p:sp>
        <p:nvSpPr>
          <p:cNvPr id="15" name="c3-body"/>
          <p:cNvSpPr txBox="1"/>
          <p:nvPr/>
        </p:nvSpPr>
        <p:spPr>
          <a:xfrm>
            <a:off x="8534400" y="3708400"/>
            <a:ext cx="2540000" cy="1143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3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外部 PPTX 可作为视觉参考重建；原始 PPTX 母版不会被直接保留。</a:t>
            </a:r>
          </a:p>
        </p:txBody>
      </p:sp>
      <p:sp>
        <p:nvSpPr>
          <p:cNvPr id="16" name="note"/>
          <p:cNvSpPr/>
          <p:nvPr/>
        </p:nvSpPr>
        <p:spPr>
          <a:xfrm>
            <a:off x="609600" y="5765800"/>
            <a:ext cx="10972800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note-text"/>
          <p:cNvSpPr txBox="1"/>
          <p:nvPr/>
        </p:nvSpPr>
        <p:spPr>
          <a:xfrm>
            <a:off x="914400" y="5918200"/>
            <a:ext cx="103632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如果必须直接填充原始 PPTX 母版，请优先使用 ppt-master 或 edit-powerpoint-live。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eyebrow"/>
          <p:cNvSpPr txBox="1"/>
          <p:nvPr/>
        </p:nvSpPr>
        <p:spPr>
          <a:xfrm>
            <a:off x="609600" y="457200"/>
            <a:ext cx="6350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1100" spc="15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03 · CAPABILITIES</a:t>
            </a:r>
          </a:p>
        </p:txBody>
      </p:sp>
      <p:sp>
        <p:nvSpPr>
          <p:cNvPr id="2" name="title"/>
          <p:cNvSpPr txBox="1"/>
          <p:nvPr/>
        </p:nvSpPr>
        <p:spPr>
          <a:xfrm>
            <a:off x="609600" y="863600"/>
            <a:ext cx="10160000" cy="558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b="1" sz="30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从页面元素到交付物，保持可编辑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473200"/>
            <a:ext cx="104140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4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设计时尽量使用原生 PPTD 元素，导出后可继续在 PowerPoint 或 WPS 中编辑。</a:t>
            </a:r>
          </a:p>
        </p:txBody>
      </p:sp>
      <p:sp>
        <p:nvSpPr>
          <p:cNvPr id="4" name="f1"/>
          <p:cNvSpPr/>
          <p:nvPr/>
        </p:nvSpPr>
        <p:spPr>
          <a:xfrm>
            <a:off x="609600" y="2235200"/>
            <a:ext cx="3327400" cy="1422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9E4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" name="f2"/>
          <p:cNvSpPr/>
          <p:nvPr/>
        </p:nvSpPr>
        <p:spPr>
          <a:xfrm>
            <a:off x="4419600" y="2235200"/>
            <a:ext cx="3327400" cy="1422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9E4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" name="f3"/>
          <p:cNvSpPr/>
          <p:nvPr/>
        </p:nvSpPr>
        <p:spPr>
          <a:xfrm>
            <a:off x="8229600" y="2235200"/>
            <a:ext cx="3352800" cy="1422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9E4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f4"/>
          <p:cNvSpPr/>
          <p:nvPr/>
        </p:nvSpPr>
        <p:spPr>
          <a:xfrm>
            <a:off x="609600" y="3987800"/>
            <a:ext cx="3327400" cy="1422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9E4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f5"/>
          <p:cNvSpPr/>
          <p:nvPr/>
        </p:nvSpPr>
        <p:spPr>
          <a:xfrm>
            <a:off x="4419600" y="3987800"/>
            <a:ext cx="3327400" cy="1422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9E4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f6"/>
          <p:cNvSpPr/>
          <p:nvPr/>
        </p:nvSpPr>
        <p:spPr>
          <a:xfrm>
            <a:off x="8229600" y="3987800"/>
            <a:ext cx="3352800" cy="142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f1-title"/>
          <p:cNvSpPr txBox="1"/>
          <p:nvPr/>
        </p:nvSpPr>
        <p:spPr>
          <a:xfrm>
            <a:off x="914400" y="2540000"/>
            <a:ext cx="26670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70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文本与排版</a:t>
            </a:r>
          </a:p>
        </p:txBody>
      </p:sp>
      <p:sp>
        <p:nvSpPr>
          <p:cNvPr id="11" name="f1-body"/>
          <p:cNvSpPr txBox="1"/>
          <p:nvPr/>
        </p:nvSpPr>
        <p:spPr>
          <a:xfrm>
            <a:off x="914400" y="2997200"/>
            <a:ext cx="2667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sz="10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富文本、字体、层级、公式和演讲备注空间。</a:t>
            </a:r>
          </a:p>
        </p:txBody>
      </p:sp>
      <p:sp>
        <p:nvSpPr>
          <p:cNvPr id="12" name="f2-title"/>
          <p:cNvSpPr txBox="1"/>
          <p:nvPr/>
        </p:nvSpPr>
        <p:spPr>
          <a:xfrm>
            <a:off x="4724400" y="2540000"/>
            <a:ext cx="26670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700">
                <a:solidFill>
                  <a:srgbClr val="20A486"/>
                </a:solidFill>
                <a:latin typeface="Microsoft YaHei"/>
                <a:ea typeface="Microsoft YaHei"/>
                <a:cs typeface="Microsoft YaHei"/>
              </a:rPr>
              <a:t>图形与图表</a:t>
            </a:r>
          </a:p>
        </p:txBody>
      </p:sp>
      <p:sp>
        <p:nvSpPr>
          <p:cNvPr id="13" name="f2-body"/>
          <p:cNvSpPr txBox="1"/>
          <p:nvPr/>
        </p:nvSpPr>
        <p:spPr>
          <a:xfrm>
            <a:off x="4724400" y="2997200"/>
            <a:ext cx="2667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sz="10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形状、连线、表格、柱线饼图和技术图示。</a:t>
            </a:r>
          </a:p>
        </p:txBody>
      </p:sp>
      <p:sp>
        <p:nvSpPr>
          <p:cNvPr id="14" name="f3-title"/>
          <p:cNvSpPr txBox="1"/>
          <p:nvPr/>
        </p:nvSpPr>
        <p:spPr>
          <a:xfrm>
            <a:off x="8534400" y="2540000"/>
            <a:ext cx="26670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700">
                <a:solidFill>
                  <a:srgbClr val="7654C5"/>
                </a:solidFill>
                <a:latin typeface="Microsoft YaHei"/>
                <a:ea typeface="Microsoft YaHei"/>
                <a:cs typeface="Microsoft YaHei"/>
              </a:rPr>
              <a:t>媒体与图标</a:t>
            </a:r>
          </a:p>
        </p:txBody>
      </p:sp>
      <p:sp>
        <p:nvSpPr>
          <p:cNvPr id="15" name="f3-body"/>
          <p:cNvSpPr txBox="1"/>
          <p:nvPr/>
        </p:nvSpPr>
        <p:spPr>
          <a:xfrm>
            <a:off x="8534400" y="2997200"/>
            <a:ext cx="2667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sz="10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SVG、PNG、JPEG、GIF、本地图标和可选字体嵌入。</a:t>
            </a:r>
          </a:p>
        </p:txBody>
      </p:sp>
      <p:sp>
        <p:nvSpPr>
          <p:cNvPr id="16" name="f4-title"/>
          <p:cNvSpPr txBox="1"/>
          <p:nvPr/>
        </p:nvSpPr>
        <p:spPr>
          <a:xfrm>
            <a:off x="914400" y="4292600"/>
            <a:ext cx="26670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700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rPr>
              <a:t>本地浏览器</a:t>
            </a:r>
          </a:p>
        </p:txBody>
      </p:sp>
      <p:sp>
        <p:nvSpPr>
          <p:cNvPr id="17" name="f4-body"/>
          <p:cNvSpPr txBox="1"/>
          <p:nvPr/>
        </p:nvSpPr>
        <p:spPr>
          <a:xfrm>
            <a:off x="914400" y="4749800"/>
            <a:ext cx="2667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sz="10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预览、编辑、保存、实时刷新和本地文件授权。</a:t>
            </a:r>
          </a:p>
        </p:txBody>
      </p:sp>
      <p:sp>
        <p:nvSpPr>
          <p:cNvPr id="18" name="f5-title"/>
          <p:cNvSpPr txBox="1"/>
          <p:nvPr/>
        </p:nvSpPr>
        <p:spPr>
          <a:xfrm>
            <a:off x="4724400" y="4292600"/>
            <a:ext cx="26670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70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交付与校验</a:t>
            </a:r>
          </a:p>
        </p:txBody>
      </p:sp>
      <p:sp>
        <p:nvSpPr>
          <p:cNvPr id="19" name="f5-body"/>
          <p:cNvSpPr txBox="1"/>
          <p:nvPr/>
        </p:nvSpPr>
        <p:spPr>
          <a:xfrm>
            <a:off x="4724400" y="4749800"/>
            <a:ext cx="2667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sz="10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PPTX、PNG、项目 ZIP、包完整性和页数检查。</a:t>
            </a:r>
          </a:p>
        </p:txBody>
      </p:sp>
      <p:sp>
        <p:nvSpPr>
          <p:cNvPr id="20" name="f6-title"/>
          <p:cNvSpPr txBox="1"/>
          <p:nvPr/>
        </p:nvSpPr>
        <p:spPr>
          <a:xfrm>
            <a:off x="8534400" y="4292600"/>
            <a:ext cx="26670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7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仍需注意</a:t>
            </a:r>
          </a:p>
        </p:txBody>
      </p:sp>
      <p:sp>
        <p:nvSpPr>
          <p:cNvPr id="21" name="f6-body"/>
          <p:cNvSpPr txBox="1"/>
          <p:nvPr/>
        </p:nvSpPr>
        <p:spPr>
          <a:xfrm>
            <a:off x="8534400" y="4749800"/>
            <a:ext cx="2667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CN" sz="1100">
                <a:solidFill>
                  <a:srgbClr val="D7E6F4"/>
                </a:solidFill>
                <a:latin typeface="Microsoft YaHei"/>
                <a:ea typeface="Microsoft YaHei"/>
                <a:cs typeface="Microsoft YaHei"/>
              </a:rPr>
              <a:t>不直接导入 PPTX；heatmap / Sankey 不导出为原生图表。</a:t>
            </a:r>
          </a:p>
        </p:txBody>
      </p:sp>
      <p:sp>
        <p:nvSpPr>
          <p:cNvPr id="22" name="footer"/>
          <p:cNvSpPr txBox="1"/>
          <p:nvPr/>
        </p:nvSpPr>
        <p:spPr>
          <a:xfrm>
            <a:off x="609600" y="6019800"/>
            <a:ext cx="109728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sz="10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支持的具体元素以 references/pptd.md 和 references/icons.md 为准。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eyebrow"/>
          <p:cNvSpPr txBox="1"/>
          <p:nvPr/>
        </p:nvSpPr>
        <p:spPr>
          <a:xfrm>
            <a:off x="609600" y="457200"/>
            <a:ext cx="6350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1100" spc="15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04 · BUILT-IN EXAMPLES</a:t>
            </a:r>
          </a:p>
        </p:txBody>
      </p:sp>
      <p:sp>
        <p:nvSpPr>
          <p:cNvPr id="2" name="title"/>
          <p:cNvSpPr txBox="1"/>
          <p:nvPr/>
        </p:nvSpPr>
        <p:spPr>
          <a:xfrm>
            <a:off x="609600" y="863600"/>
            <a:ext cx="10160000" cy="558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b="1" sz="30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内置示例就是可复制的 PPTD 起点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473200"/>
            <a:ext cx="106680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4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每个目录都包含 deck.pptd、pages/ 和必要的 media/，可以复制后替换内容。</a:t>
            </a:r>
          </a:p>
        </p:txBody>
      </p:sp>
      <p:sp>
        <p:nvSpPr>
          <p:cNvPr id="4" name="left-panel"/>
          <p:cNvSpPr/>
          <p:nvPr/>
        </p:nvSpPr>
        <p:spPr>
          <a:xfrm>
            <a:off x="609600" y="2133600"/>
            <a:ext cx="5257800" cy="3632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" name="right-panel"/>
          <p:cNvSpPr/>
          <p:nvPr/>
        </p:nvSpPr>
        <p:spPr>
          <a:xfrm>
            <a:off x="6172200" y="2133600"/>
            <a:ext cx="5410200" cy="3632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9E4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" name="left-label"/>
          <p:cNvSpPr txBox="1"/>
          <p:nvPr/>
        </p:nvSpPr>
        <p:spPr>
          <a:xfrm>
            <a:off x="965200" y="2514600"/>
            <a:ext cx="38100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100" spc="120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rPr>
              <a:t>BUSINESS / BRAND / ACADEMIC</a:t>
            </a:r>
          </a:p>
        </p:txBody>
      </p:sp>
      <p:sp>
        <p:nvSpPr>
          <p:cNvPr id="7" name="left-list"/>
          <p:cNvSpPr txBox="1"/>
          <p:nvPr/>
        </p:nvSpPr>
        <p:spPr>
          <a:xfrm>
            <a:off x="965200" y="3073400"/>
            <a:ext cx="4445000" cy="2159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lang="zh-CN"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 business-review-7p</a:t>
            </a:r>
          </a:p>
          <a:p>
            <a:pPr algn="l">
              <a:lnSpc>
                <a:spcPct val="175000"/>
              </a:lnSpc>
            </a:pPr>
            <a:r>
              <a:rPr lang="zh-CN"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 miaopai-saas-bp</a:t>
            </a:r>
          </a:p>
          <a:p>
            <a:pPr algn="l">
              <a:lnSpc>
                <a:spcPct val="175000"/>
              </a:lnSpc>
            </a:pPr>
            <a:r>
              <a:rPr lang="zh-CN"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 ev-range</a:t>
            </a:r>
          </a:p>
          <a:p>
            <a:pPr algn="l">
              <a:lnSpc>
                <a:spcPct val="175000"/>
              </a:lnSpc>
            </a:pPr>
            <a:r>
              <a:rPr lang="zh-CN"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 islelight-brand-book</a:t>
            </a:r>
          </a:p>
        </p:txBody>
      </p:sp>
      <p:sp>
        <p:nvSpPr>
          <p:cNvPr id="8" name="right-label"/>
          <p:cNvSpPr txBox="1"/>
          <p:nvPr/>
        </p:nvSpPr>
        <p:spPr>
          <a:xfrm>
            <a:off x="6527800" y="2514600"/>
            <a:ext cx="41910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100" spc="12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TECH / LAUNCH / SHOWCASE</a:t>
            </a:r>
          </a:p>
        </p:txBody>
      </p:sp>
      <p:sp>
        <p:nvSpPr>
          <p:cNvPr id="9" name="right-list"/>
          <p:cNvSpPr txBox="1"/>
          <p:nvPr/>
        </p:nvSpPr>
        <p:spPr>
          <a:xfrm>
            <a:off x="6527800" y="3073400"/>
            <a:ext cx="4445000" cy="2159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lang="zh-CN" sz="16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05  tech-architecture-review-7p</a:t>
            </a:r>
          </a:p>
          <a:p>
            <a:pPr algn="l">
              <a:lnSpc>
                <a:spcPct val="175000"/>
              </a:lnSpc>
            </a:pPr>
            <a:r>
              <a:rPr lang="zh-CN" sz="16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06  shanmingji-2026-launch</a:t>
            </a:r>
          </a:p>
          <a:p>
            <a:pPr algn="l">
              <a:lnSpc>
                <a:spcPct val="175000"/>
              </a:lnSpc>
            </a:pPr>
            <a:r>
              <a:rPr lang="zh-CN" sz="16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07  brand-mori-showcase-7p</a:t>
            </a:r>
          </a:p>
          <a:p>
            <a:pPr algn="l">
              <a:lnSpc>
                <a:spcPct val="175000"/>
              </a:lnSpc>
            </a:pPr>
            <a:r>
              <a:rPr lang="zh-CN" sz="16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08  hello-my-ppt-introduction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609600" y="6070600"/>
            <a:ext cx="109728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sz="10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使用方式：复制 examples/ 下的项目 → 修改页面和素材 → serve 预览 → export 导出。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eyebrow"/>
          <p:cNvSpPr txBox="1"/>
          <p:nvPr/>
        </p:nvSpPr>
        <p:spPr>
          <a:xfrm>
            <a:off x="609600" y="457200"/>
            <a:ext cx="6350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1100" spc="15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05 · COMMANDS</a:t>
            </a:r>
          </a:p>
        </p:txBody>
      </p:sp>
      <p:sp>
        <p:nvSpPr>
          <p:cNvPr id="2" name="title"/>
          <p:cNvSpPr txBox="1"/>
          <p:nvPr/>
        </p:nvSpPr>
        <p:spPr>
          <a:xfrm>
            <a:off x="609600" y="863600"/>
            <a:ext cx="10160000" cy="558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b="1" sz="30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四条命令完成本地工作流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473200"/>
            <a:ext cx="104140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4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CLI 不负责理解提示词；它负责启动编辑器、导出 PPTX、渲染 PNG 和打包项目。</a:t>
            </a:r>
          </a:p>
        </p:txBody>
      </p:sp>
      <p:sp>
        <p:nvSpPr>
          <p:cNvPr id="4" name="code-panel"/>
          <p:cNvSpPr/>
          <p:nvPr/>
        </p:nvSpPr>
        <p:spPr>
          <a:xfrm>
            <a:off x="609600" y="2133600"/>
            <a:ext cx="6959600" cy="3632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" name="code-title"/>
          <p:cNvSpPr txBox="1"/>
          <p:nvPr/>
        </p:nvSpPr>
        <p:spPr>
          <a:xfrm>
            <a:off x="965200" y="2463800"/>
            <a:ext cx="6096000" cy="279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100" spc="120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rPr>
              <a:t>POWERSHELL</a:t>
            </a:r>
          </a:p>
        </p:txBody>
      </p:sp>
      <p:sp>
        <p:nvSpPr>
          <p:cNvPr id="6" name="code"/>
          <p:cNvSpPr txBox="1"/>
          <p:nvPr/>
        </p:nvSpPr>
        <p:spPr>
          <a:xfrm>
            <a:off x="965200" y="2971800"/>
            <a:ext cx="6096000" cy="2387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2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$skill = "C:\\...\\hello-my-ppt"</a:t>
            </a:r>
          </a:p>
          <a:p>
            <a:pPr algn="l">
              <a:lnSpc>
                <a:spcPct val="150000"/>
              </a:lnSpc>
            </a:pPr>
            <a:r>
              <a:rPr lang="zh-CN" sz="12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$project = "C:\\...\\my-deck"</a:t>
            </a:r>
          </a:p>
          <a:p>
            <a:pPr algn="l">
              <a:lnSpc>
                <a:spcPct val="150000"/>
              </a:lnSpc>
            </a:pPr>
            <a:r>
              <a:rPr lang="zh-CN" sz="12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node "$skill\\bin\\hello-my-ppt.js" serve `</a:t>
            </a:r>
          </a:p>
          <a:p>
            <a:pPr algn="l">
              <a:lnSpc>
                <a:spcPct val="150000"/>
              </a:lnSpc>
            </a:pPr>
            <a:r>
              <a:rPr lang="zh-CN" sz="12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 xml:space="preserve">  --project $project</a:t>
            </a:r>
          </a:p>
          <a:p>
            <a:pPr algn="l">
              <a:lnSpc>
                <a:spcPct val="150000"/>
              </a:lnSpc>
            </a:pPr>
            <a:r>
              <a:rPr lang="zh-CN" sz="12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node "$skill\\bin\\hello-my-ppt.js" export `</a:t>
            </a:r>
          </a:p>
          <a:p>
            <a:pPr algn="l">
              <a:lnSpc>
                <a:spcPct val="150000"/>
              </a:lnSpc>
            </a:pPr>
            <a:r>
              <a:rPr lang="zh-CN" sz="12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 xml:space="preserve">  "$project\\deck.pptd" -o "$project\\deck.pptx"</a:t>
            </a:r>
          </a:p>
          <a:p>
            <a:pPr algn="l">
              <a:lnSpc>
                <a:spcPct val="150000"/>
              </a:lnSpc>
            </a:pPr>
            <a:r>
              <a:rPr lang="zh-CN" sz="12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node "$skill\\bin\\hello-my-ppt.js" render `</a:t>
            </a:r>
          </a:p>
          <a:p>
            <a:pPr algn="l">
              <a:lnSpc>
                <a:spcPct val="150000"/>
              </a:lnSpc>
            </a:pPr>
            <a:r>
              <a:rPr lang="zh-CN" sz="12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 xml:space="preserve">  "$project\\deck.pptd" -o "$project\\rendered"</a:t>
            </a:r>
          </a:p>
        </p:txBody>
      </p:sp>
      <p:sp>
        <p:nvSpPr>
          <p:cNvPr id="7" name="right-card"/>
          <p:cNvSpPr/>
          <p:nvPr/>
        </p:nvSpPr>
        <p:spPr>
          <a:xfrm>
            <a:off x="7924800" y="2133600"/>
            <a:ext cx="3657600" cy="3632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9E4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r-title"/>
          <p:cNvSpPr txBox="1"/>
          <p:nvPr/>
        </p:nvSpPr>
        <p:spPr>
          <a:xfrm>
            <a:off x="8280400" y="2514600"/>
            <a:ext cx="2921000" cy="355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20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交付建议</a:t>
            </a:r>
          </a:p>
        </p:txBody>
      </p:sp>
      <p:sp>
        <p:nvSpPr>
          <p:cNvPr id="9" name="r-body"/>
          <p:cNvSpPr txBox="1"/>
          <p:nvPr/>
        </p:nvSpPr>
        <p:spPr>
          <a:xfrm>
            <a:off x="8280400" y="3124200"/>
            <a:ext cx="2794000" cy="1828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b="1" sz="13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serve</a:t>
            </a:r>
            <a:r>
              <a:rPr lang="zh-CN" sz="13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：先在浏览器检查布局。</a:t>
            </a:r>
          </a:p>
          <a:p>
            <a:pPr algn="l">
              <a:lnSpc>
                <a:spcPct val="150000"/>
              </a:lnSpc>
            </a:pPr>
            <a:r>
              <a:rPr lang="zh-CN" b="1" sz="13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export</a:t>
            </a:r>
            <a:r>
              <a:rPr lang="zh-CN" sz="13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：生成可编辑 PPTX。</a:t>
            </a:r>
          </a:p>
          <a:p>
            <a:pPr algn="l">
              <a:lnSpc>
                <a:spcPct val="150000"/>
              </a:lnSpc>
            </a:pPr>
            <a:r>
              <a:rPr lang="zh-CN" b="1" sz="13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render</a:t>
            </a:r>
            <a:r>
              <a:rPr lang="zh-CN" sz="13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：生成 PNG 做视觉复核。</a:t>
            </a:r>
          </a:p>
          <a:p>
            <a:pPr algn="l">
              <a:lnSpc>
                <a:spcPct val="150000"/>
              </a:lnSpc>
            </a:pPr>
            <a:r>
              <a:rPr lang="zh-CN" b="1" sz="13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export-project</a:t>
            </a:r>
            <a:r>
              <a:rPr lang="zh-CN" sz="13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：打包 PPTD 和素材。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609600" y="6070600"/>
            <a:ext cx="109728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sz="10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导出后可运行 tests/package-integrity.mjs 检查包内引用和页数。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eyebrow"/>
          <p:cNvSpPr txBox="1"/>
          <p:nvPr/>
        </p:nvSpPr>
        <p:spPr>
          <a:xfrm>
            <a:off x="609600" y="457200"/>
            <a:ext cx="6350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1100" spc="15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06 · PROMPT TO DECK</a:t>
            </a:r>
          </a:p>
        </p:txBody>
      </p:sp>
      <p:sp>
        <p:nvSpPr>
          <p:cNvPr id="2" name="title"/>
          <p:cNvSpPr txBox="1"/>
          <p:nvPr/>
        </p:nvSpPr>
        <p:spPr>
          <a:xfrm>
            <a:off x="609600" y="863600"/>
            <a:ext cx="10414000" cy="558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b="1" sz="30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一条清晰提示词，换来一套可编辑项目</a:t>
            </a:r>
          </a:p>
        </p:txBody>
      </p:sp>
      <p:sp>
        <p:nvSpPr>
          <p:cNvPr id="3" name="prompt-panel"/>
          <p:cNvSpPr/>
          <p:nvPr/>
        </p:nvSpPr>
        <p:spPr>
          <a:xfrm>
            <a:off x="609600" y="2082800"/>
            <a:ext cx="6350000" cy="373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" name="prompt-label"/>
          <p:cNvSpPr txBox="1"/>
          <p:nvPr/>
        </p:nvSpPr>
        <p:spPr>
          <a:xfrm>
            <a:off x="965200" y="2463800"/>
            <a:ext cx="5334000" cy="279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100" spc="120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rPr>
              <a:t>EXAMPLE PROMPT</a:t>
            </a:r>
          </a:p>
        </p:txBody>
      </p:sp>
      <p:sp>
        <p:nvSpPr>
          <p:cNvPr id="5" name="prompt-copy"/>
          <p:cNvSpPr txBox="1"/>
          <p:nvPr/>
        </p:nvSpPr>
        <p:spPr>
          <a:xfrm>
            <a:off x="965200" y="2946400"/>
            <a:ext cx="5410200" cy="2413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请设计一份 8 页的</a:t>
            </a:r>
          </a:p>
          <a:p>
            <a:pPr algn="l">
              <a:lnSpc>
                <a:spcPct val="15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具身智能芯片战略汇报 PPT，</a:t>
            </a:r>
          </a:p>
          <a:p>
            <a:pPr algn="l">
              <a:lnSpc>
                <a:spcPct val="15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面向投资人，采用高级红蓝配色。</a:t>
            </a:r>
          </a:p>
          <a:p>
            <a:pPr algn="l">
              <a:lnSpc>
                <a:spcPct val="15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包含行业背景、技术架构、</a:t>
            </a:r>
          </a:p>
          <a:p>
            <a:pPr algn="l">
              <a:lnSpc>
                <a:spcPct val="15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芯片路线、竞争格局、商业模式</a:t>
            </a:r>
          </a:p>
          <a:p>
            <a:pPr algn="l">
              <a:lnSpc>
                <a:spcPct val="15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和总结页，输出 PPTD、PPTX、PNG。</a:t>
            </a:r>
          </a:p>
        </p:txBody>
      </p:sp>
      <p:sp>
        <p:nvSpPr>
          <p:cNvPr id="6" name="output-title"/>
          <p:cNvSpPr txBox="1"/>
          <p:nvPr/>
        </p:nvSpPr>
        <p:spPr>
          <a:xfrm>
            <a:off x="7620000" y="2159000"/>
            <a:ext cx="3556000" cy="355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2000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Codex 生成的交付物</a:t>
            </a:r>
          </a:p>
        </p:txBody>
      </p:sp>
      <p:sp>
        <p:nvSpPr>
          <p:cNvPr id="7" name="out1"/>
          <p:cNvSpPr/>
          <p:nvPr/>
        </p:nvSpPr>
        <p:spPr>
          <a:xfrm>
            <a:off x="7620000" y="2870200"/>
            <a:ext cx="3556000" cy="7620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out1-text"/>
          <p:cNvSpPr txBox="1"/>
          <p:nvPr/>
        </p:nvSpPr>
        <p:spPr>
          <a:xfrm>
            <a:off x="7899400" y="3073400"/>
            <a:ext cx="2997200" cy="3302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60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01  deck.pptd + pages/</a:t>
            </a:r>
          </a:p>
        </p:txBody>
      </p:sp>
      <p:sp>
        <p:nvSpPr>
          <p:cNvPr id="9" name="out2"/>
          <p:cNvSpPr/>
          <p:nvPr/>
        </p:nvSpPr>
        <p:spPr>
          <a:xfrm>
            <a:off x="7620000" y="3860800"/>
            <a:ext cx="3556000" cy="762000"/>
          </a:xfrm>
          <a:prstGeom prst="rect">
            <a:avLst/>
          </a:prstGeom>
          <a:solidFill>
            <a:srgbClr val="E8F6F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out2-text"/>
          <p:cNvSpPr txBox="1"/>
          <p:nvPr/>
        </p:nvSpPr>
        <p:spPr>
          <a:xfrm>
            <a:off x="7899400" y="4064000"/>
            <a:ext cx="2997200" cy="3302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600">
                <a:solidFill>
                  <a:srgbClr val="20A486"/>
                </a:solidFill>
                <a:latin typeface="Microsoft YaHei"/>
                <a:ea typeface="Microsoft YaHei"/>
                <a:cs typeface="Microsoft YaHei"/>
              </a:rPr>
              <a:t>02  editable deck.pptx</a:t>
            </a:r>
          </a:p>
        </p:txBody>
      </p:sp>
      <p:sp>
        <p:nvSpPr>
          <p:cNvPr id="11" name="out3"/>
          <p:cNvSpPr/>
          <p:nvPr/>
        </p:nvSpPr>
        <p:spPr>
          <a:xfrm>
            <a:off x="7620000" y="4851400"/>
            <a:ext cx="3556000" cy="762000"/>
          </a:xfrm>
          <a:prstGeom prst="rect">
            <a:avLst/>
          </a:prstGeom>
          <a:solidFill>
            <a:srgbClr val="FFF0E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out3-text"/>
          <p:cNvSpPr txBox="1"/>
          <p:nvPr/>
        </p:nvSpPr>
        <p:spPr>
          <a:xfrm>
            <a:off x="7899400" y="5054600"/>
            <a:ext cx="2997200" cy="3302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600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rPr>
              <a:t>03  page images + ZIP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609600" y="6070600"/>
            <a:ext cx="109728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sz="1000">
                <a:solidFill>
                  <a:srgbClr val="5D7188"/>
                </a:solidFill>
                <a:latin typeface="Microsoft YaHei"/>
                <a:ea typeface="Microsoft YaHei"/>
                <a:cs typeface="Microsoft YaHei"/>
              </a:rPr>
              <a:t>提示词越明确，页面结构、视觉系统和素材选择越稳定；生成后仍建议浏览器复核。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accent"/>
          <p:cNvSpPr/>
          <p:nvPr/>
        </p:nvSpPr>
        <p:spPr>
          <a:xfrm>
            <a:off x="609600" y="685800"/>
            <a:ext cx="1371600" cy="6350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eyebrow"/>
          <p:cNvSpPr txBox="1"/>
          <p:nvPr/>
        </p:nvSpPr>
        <p:spPr>
          <a:xfrm>
            <a:off x="609600" y="1041400"/>
            <a:ext cx="6350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100" spc="150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rPr>
              <a:t>07 · START HERE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1651000"/>
            <a:ext cx="8890000" cy="889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4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现在就开始设计你的 PPT</a:t>
            </a:r>
          </a:p>
        </p:txBody>
      </p:sp>
      <p:sp>
        <p:nvSpPr>
          <p:cNvPr id="4" name="copy"/>
          <p:cNvSpPr txBox="1"/>
          <p:nvPr/>
        </p:nvSpPr>
        <p:spPr>
          <a:xfrm>
            <a:off x="609600" y="2870200"/>
            <a:ext cx="7493000" cy="889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zh-CN" sz="1600">
                <a:solidFill>
                  <a:srgbClr val="D7E6F4"/>
                </a:solidFill>
                <a:latin typeface="Microsoft YaHei"/>
                <a:ea typeface="Microsoft YaHei"/>
                <a:cs typeface="Microsoft YaHei"/>
              </a:rPr>
              <a:t>先给出主题和交付目标，再选择提示词、内置示例或外部视觉参考。hello-my-ppt 会把结果保留为可继续编辑的本地项目。</a:t>
            </a:r>
          </a:p>
        </p:txBody>
      </p:sp>
      <p:sp>
        <p:nvSpPr>
          <p:cNvPr id="5" name="command-panel"/>
          <p:cNvSpPr/>
          <p:nvPr/>
        </p:nvSpPr>
        <p:spPr>
          <a:xfrm>
            <a:off x="609600" y="4368800"/>
            <a:ext cx="10972800" cy="939800"/>
          </a:xfrm>
          <a:prstGeom prst="rect">
            <a:avLst/>
          </a:prstGeom>
          <a:solidFill>
            <a:srgbClr val="0B203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" name="command"/>
          <p:cNvSpPr txBox="1"/>
          <p:nvPr/>
        </p:nvSpPr>
        <p:spPr>
          <a:xfrm>
            <a:off x="990600" y="4686300"/>
            <a:ext cx="102108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sz="15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node bin/hello-my-ppt.js serve --project C:\\path\\to\\my-deck</a:t>
            </a:r>
          </a:p>
        </p:txBody>
      </p:sp>
      <p:sp>
        <p:nvSpPr>
          <p:cNvPr id="7" name="final"/>
          <p:cNvSpPr txBox="1"/>
          <p:nvPr/>
        </p:nvSpPr>
        <p:spPr>
          <a:xfrm>
            <a:off x="609600" y="5994400"/>
            <a:ext cx="10972800" cy="304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sz="1200">
                <a:solidFill>
                  <a:srgbClr val="AFC8DC"/>
                </a:solidFill>
                <a:latin typeface="Microsoft YaHei"/>
                <a:ea typeface="Microsoft YaHei"/>
                <a:cs typeface="Microsoft YaHei"/>
              </a:rPr>
              <a:t>hello-my-ppt · local editor · editable PPTX · page images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pen-pptd">
  <a:themeElements>
    <a:clrScheme name="open-pptd">
      <a:dk1>
        <a:sysClr val="windowText" lastClr="000000"/>
      </a:dk1>
      <a:lt1>
        <a:sysClr val="window" lastClr="FFFFFF"/>
      </a:lt1>
      <a:dk2>
        <a:srgbClr val="132238"/>
      </a:dk2>
      <a:lt2>
        <a:srgbClr val="F5F8FC"/>
      </a:lt2>
      <a:accent1>
        <a:srgbClr val="12304A"/>
      </a:accent1>
      <a:accent2>
        <a:srgbClr val="2F80ED"/>
      </a:accent2>
      <a:accent3>
        <a:srgbClr val="37B2BE"/>
      </a:accent3>
      <a:accent4>
        <a:srgbClr val="5A45C4"/>
      </a:accent4>
      <a:accent5>
        <a:srgbClr val="C15533"/>
      </a:accent5>
      <a:accent6>
        <a:srgbClr val="419F73"/>
      </a:accent6>
      <a:hlink>
        <a:srgbClr val="0563C1"/>
      </a:hlink>
      <a:folHlink>
        <a:srgbClr val="954F72"/>
      </a:folHlink>
    </a:clrScheme>
    <a:fontScheme name="open-pptd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open-pptd</Application>
  <PresentationFormat>宽屏</PresentationFormat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8" baseType="lpstr">
      <vt:lpstr>幻灯片</vt:lpstr>
      <vt:lpstr>幻灯片</vt:lpstr>
      <vt:lpstr>幻灯片</vt:lpstr>
      <vt:lpstr>幻灯片</vt:lpstr>
      <vt:lpstr>幻灯片</vt:lpstr>
      <vt:lpstr>幻灯片</vt:lpstr>
      <vt:lpstr>幻灯片</vt:lpstr>
      <vt:lpstr>幻灯片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hello-my-ppt 使用介绍</dc:title>
  <dc:creator>open-pptd</dc:creator>
  <cp:lastModifiedBy>open-pptd</cp:lastModifiedBy>
  <dcterms:created xsi:type="dcterms:W3CDTF">2026-08-25T05:53:49.101Z</dcterms:created>
  <dcterms:modified xsi:type="dcterms:W3CDTF">2026-08-25T05:53:49.101Z</dcterms:modified>
</cp:coreProperties>
</file>